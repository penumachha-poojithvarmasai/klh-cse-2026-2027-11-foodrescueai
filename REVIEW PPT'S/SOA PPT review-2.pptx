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707" r:id="rId4"/>
    <p:sldId id="257" r:id="rId5"/>
    <p:sldId id="903" r:id="rId6"/>
    <p:sldId id="902" r:id="rId7"/>
    <p:sldId id="258" r:id="rId8"/>
    <p:sldId id="259" r:id="rId9"/>
    <p:sldId id="260" r:id="rId10"/>
    <p:sldId id="904" r:id="rId11"/>
    <p:sldId id="905" r:id="rId12"/>
    <p:sldId id="906" r:id="rId13"/>
    <p:sldId id="90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1" d="100"/>
          <a:sy n="71" d="100"/>
        </p:scale>
        <p:origin x="69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C VARMA" userId="2e7b4c0113cb7830" providerId="LiveId" clId="{6D3C4074-93C7-4669-A98B-54038C9DDE84}"/>
    <pc:docChg chg="custSel addSld modSld">
      <pc:chgData name="HC VARMA" userId="2e7b4c0113cb7830" providerId="LiveId" clId="{6D3C4074-93C7-4669-A98B-54038C9DDE84}" dt="2026-09-29T06:53:52.974" v="106" actId="20577"/>
      <pc:docMkLst>
        <pc:docMk/>
      </pc:docMkLst>
      <pc:sldChg chg="addSp delSp modSp new mod">
        <pc:chgData name="HC VARMA" userId="2e7b4c0113cb7830" providerId="LiveId" clId="{6D3C4074-93C7-4669-A98B-54038C9DDE84}" dt="2026-09-29T06:53:52.974" v="106" actId="20577"/>
        <pc:sldMkLst>
          <pc:docMk/>
          <pc:sldMk cId="3405594445" sldId="907"/>
        </pc:sldMkLst>
        <pc:spChg chg="mod">
          <ac:chgData name="HC VARMA" userId="2e7b4c0113cb7830" providerId="LiveId" clId="{6D3C4074-93C7-4669-A98B-54038C9DDE84}" dt="2026-09-29T06:53:52.974" v="106" actId="20577"/>
          <ac:spMkLst>
            <pc:docMk/>
            <pc:sldMk cId="3405594445" sldId="907"/>
            <ac:spMk id="2" creationId="{49CDD181-9DBA-E814-39E8-332B3E6F097F}"/>
          </ac:spMkLst>
        </pc:spChg>
        <pc:spChg chg="del mod">
          <ac:chgData name="HC VARMA" userId="2e7b4c0113cb7830" providerId="LiveId" clId="{6D3C4074-93C7-4669-A98B-54038C9DDE84}" dt="2026-09-29T06:53:32.026" v="25" actId="478"/>
          <ac:spMkLst>
            <pc:docMk/>
            <pc:sldMk cId="3405594445" sldId="907"/>
            <ac:spMk id="3" creationId="{402A21E3-62F9-6947-D20F-59FBE11E269F}"/>
          </ac:spMkLst>
        </pc:spChg>
        <pc:spChg chg="add del mod">
          <ac:chgData name="HC VARMA" userId="2e7b4c0113cb7830" providerId="LiveId" clId="{6D3C4074-93C7-4669-A98B-54038C9DDE84}" dt="2026-09-29T06:53:35.402" v="26" actId="478"/>
          <ac:spMkLst>
            <pc:docMk/>
            <pc:sldMk cId="3405594445" sldId="907"/>
            <ac:spMk id="5" creationId="{A1E730AB-395D-6A4E-3C57-A21F2D38926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9/29/2026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29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29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29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29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29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29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29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29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29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29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29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9/29/2026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29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26-09-2026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545649776"/>
              </p:ext>
            </p:extLst>
          </p:nvPr>
        </p:nvGraphicFramePr>
        <p:xfrm>
          <a:off x="8193271" y="4898509"/>
          <a:ext cx="3702050" cy="179832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600" dirty="0"/>
                        <a:t>P. Poojith Varma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600" dirty="0"/>
                        <a:t>        2420030749</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600" dirty="0"/>
                        <a:t>G. Prashanth Kumar</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600" dirty="0"/>
                        <a:t>        2420090072</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600" dirty="0"/>
                        <a:t>V. Harshith Varma</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600" dirty="0"/>
                        <a:t>         2420030020</a:t>
                      </a:r>
                      <a:endParaRPr lang="en-IN" sz="1600"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152791578"/>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a:t>
                      </a:r>
                      <a:r>
                        <a:rPr lang="en-IN" sz="1400" b="1" dirty="0"/>
                        <a:t>K. </a:t>
                      </a:r>
                      <a:r>
                        <a:rPr lang="en-IN" sz="1400" b="1" dirty="0" err="1"/>
                        <a:t>Venkateswari</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638175" y="865872"/>
            <a:ext cx="10715625" cy="954107"/>
          </a:xfrm>
          <a:prstGeom prst="rect">
            <a:avLst/>
          </a:prstGeom>
          <a:noFill/>
        </p:spPr>
        <p:txBody>
          <a:bodyPr wrap="square">
            <a:spAutoFit/>
          </a:bodyPr>
          <a:lstStyle/>
          <a:p>
            <a:pPr lvl="0" algn="ctr">
              <a:defRPr/>
            </a:pPr>
            <a:r>
              <a:rPr lang="en-IN" sz="2800" dirty="0" err="1">
                <a:solidFill>
                  <a:schemeClr val="bg1"/>
                </a:solidFill>
              </a:rPr>
              <a:t>FoodRescue</a:t>
            </a:r>
            <a:r>
              <a:rPr lang="en-IN" sz="2800" dirty="0">
                <a:solidFill>
                  <a:schemeClr val="bg1"/>
                </a:solidFill>
              </a:rPr>
              <a:t> AI: Autonomous Surplus-Food Detection &amp; Redistribution Agent</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7"/>
          <a:stretch>
            <a:fillRect/>
          </a:stretch>
        </p:blipFill>
        <p:spPr>
          <a:xfrm>
            <a:off x="10249380" y="0"/>
            <a:ext cx="1901110" cy="622550"/>
          </a:xfrm>
          <a:prstGeom prst="rect">
            <a:avLst/>
          </a:prstGeom>
        </p:spPr>
      </p:pic>
      <p:sp>
        <p:nvSpPr>
          <p:cNvPr id="50" name="TextBox 49">
            <a:extLst>
              <a:ext uri="{FF2B5EF4-FFF2-40B4-BE49-F238E27FC236}">
                <a16:creationId xmlns:a16="http://schemas.microsoft.com/office/drawing/2014/main" id="{A0639415-FF15-31E3-24E4-66710B2C2B7D}"/>
              </a:ext>
            </a:extLst>
          </p:cNvPr>
          <p:cNvSpPr txBox="1"/>
          <p:nvPr/>
        </p:nvSpPr>
        <p:spPr>
          <a:xfrm>
            <a:off x="838200" y="1057757"/>
            <a:ext cx="8596032" cy="4524315"/>
          </a:xfrm>
          <a:prstGeom prst="rect">
            <a:avLst/>
          </a:prstGeom>
          <a:noFill/>
        </p:spPr>
        <p:txBody>
          <a:bodyPr wrap="square">
            <a:spAutoFit/>
          </a:bodyPr>
          <a:lstStyle/>
          <a:p>
            <a:pPr marL="457200" lvl="0" indent="-457200">
              <a:buFont typeface="Wingdings" panose="05000000000000000000" pitchFamily="2" charset="2"/>
              <a:buChar char="Ø"/>
            </a:pPr>
            <a:r>
              <a:rPr lang="en-IN" sz="3200" b="1" dirty="0"/>
              <a:t>Problem Statement</a:t>
            </a:r>
            <a:r>
              <a:rPr lang="en-IN" sz="3200" dirty="0"/>
              <a:t> </a:t>
            </a:r>
          </a:p>
          <a:p>
            <a:pPr marL="457200" lvl="0" indent="-457200">
              <a:buFont typeface="Wingdings" panose="05000000000000000000" pitchFamily="2" charset="2"/>
              <a:buChar char="Ø"/>
            </a:pPr>
            <a:r>
              <a:rPr lang="en-IN" sz="3200" b="1" dirty="0"/>
              <a:t>Objectives</a:t>
            </a:r>
            <a:r>
              <a:rPr lang="en-IN" sz="3200" dirty="0"/>
              <a:t> </a:t>
            </a:r>
          </a:p>
          <a:p>
            <a:pPr marL="457200" lvl="0" indent="-457200">
              <a:buFont typeface="Wingdings" panose="05000000000000000000" pitchFamily="2" charset="2"/>
              <a:buChar char="Ø"/>
            </a:pPr>
            <a:r>
              <a:rPr lang="en-IN" sz="3200" b="1" dirty="0"/>
              <a:t>Literature Survey</a:t>
            </a:r>
            <a:r>
              <a:rPr lang="en-IN" sz="3200" dirty="0"/>
              <a:t> </a:t>
            </a:r>
          </a:p>
          <a:p>
            <a:pPr marL="457200" lvl="0" indent="-457200">
              <a:buFont typeface="Wingdings" panose="05000000000000000000" pitchFamily="2" charset="2"/>
              <a:buChar char="Ø"/>
            </a:pPr>
            <a:r>
              <a:rPr lang="en-IN" sz="3200" b="1" dirty="0"/>
              <a:t>Problem Gap Identification</a:t>
            </a:r>
            <a:r>
              <a:rPr lang="en-IN" sz="3200" dirty="0"/>
              <a:t> </a:t>
            </a:r>
          </a:p>
          <a:p>
            <a:pPr marL="457200" lvl="0" indent="-457200">
              <a:buFont typeface="Wingdings" panose="05000000000000000000" pitchFamily="2" charset="2"/>
              <a:buChar char="Ø"/>
            </a:pPr>
            <a:r>
              <a:rPr lang="en-IN" sz="3200" b="1" dirty="0"/>
              <a:t>Innovation, Creativity, and Novelty</a:t>
            </a:r>
            <a:r>
              <a:rPr lang="en-IN" sz="3200" dirty="0"/>
              <a:t> </a:t>
            </a:r>
          </a:p>
          <a:p>
            <a:pPr marL="457200" lvl="0" indent="-457200">
              <a:buFont typeface="Wingdings" panose="05000000000000000000" pitchFamily="2" charset="2"/>
              <a:buChar char="Ø"/>
            </a:pPr>
            <a:r>
              <a:rPr lang="en-IN" sz="3200" b="1" dirty="0"/>
              <a:t>Feasibility and Project Plan</a:t>
            </a:r>
            <a:r>
              <a:rPr lang="en-IN" sz="3200" dirty="0"/>
              <a:t> </a:t>
            </a:r>
          </a:p>
          <a:p>
            <a:pPr marL="457200" lvl="0" indent="-457200">
              <a:buFont typeface="Wingdings" panose="05000000000000000000" pitchFamily="2" charset="2"/>
              <a:buChar char="Ø"/>
            </a:pPr>
            <a:r>
              <a:rPr lang="en-IN" sz="3200" b="1" dirty="0"/>
              <a:t>Conclusion &amp; Future Work</a:t>
            </a:r>
            <a:r>
              <a:rPr lang="en-IN" sz="3200" dirty="0"/>
              <a:t> </a:t>
            </a:r>
          </a:p>
          <a:p>
            <a:pPr marL="457200" lvl="0" indent="-457200">
              <a:buFont typeface="Wingdings" panose="05000000000000000000" pitchFamily="2" charset="2"/>
              <a:buChar char="Ø"/>
            </a:pPr>
            <a:r>
              <a:rPr lang="en-IN" sz="3200" b="1" dirty="0"/>
              <a:t>References</a:t>
            </a:r>
            <a:r>
              <a:rPr lang="en-IN" sz="3200" dirty="0"/>
              <a:t> </a:t>
            </a:r>
          </a:p>
          <a:p>
            <a:pPr marL="457200" lvl="0" indent="-457200">
              <a:buFont typeface="Wingdings" panose="05000000000000000000" pitchFamily="2" charset="2"/>
              <a:buChar char="Ø"/>
            </a:pPr>
            <a:r>
              <a:rPr lang="en-IN" sz="3200" b="1" dirty="0"/>
              <a:t>Publications Details</a:t>
            </a:r>
            <a:endParaRPr lang="en-IN" sz="3200" dirty="0"/>
          </a:p>
        </p:txBody>
      </p:sp>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239A5AF-99F3-B5BC-8600-9574EDEA5BFA}"/>
              </a:ext>
            </a:extLst>
          </p:cNvPr>
          <p:cNvSpPr txBox="1"/>
          <p:nvPr/>
        </p:nvSpPr>
        <p:spPr>
          <a:xfrm>
            <a:off x="658906" y="1317812"/>
            <a:ext cx="11228294" cy="4247317"/>
          </a:xfrm>
          <a:prstGeom prst="rect">
            <a:avLst/>
          </a:prstGeom>
          <a:noFill/>
        </p:spPr>
        <p:txBody>
          <a:bodyPr wrap="square">
            <a:spAutoFit/>
          </a:bodyPr>
          <a:lstStyle/>
          <a:p>
            <a:pPr algn="just"/>
            <a:r>
              <a:rPr lang="en-IN" dirty="0"/>
              <a:t>Large quantities of edible food are often left unused in canteens, restaurants, hotels, and events, while organizations and communities may simultaneously need food resources. Existing food donation systems generally depend on manual reporting, recipient selection, and pickup coordination, which can cause delays and inefficient redistribution.</a:t>
            </a:r>
          </a:p>
          <a:p>
            <a:pPr algn="just"/>
            <a:r>
              <a:rPr lang="en-IN" dirty="0"/>
              <a:t>There is a need for an AI-based autonomous system that can </a:t>
            </a:r>
            <a:r>
              <a:rPr lang="en-IN" dirty="0" err="1"/>
              <a:t>analyze</a:t>
            </a:r>
            <a:r>
              <a:rPr lang="en-IN" dirty="0"/>
              <a:t> surplus-food information, assess its urgency and suitability, intelligently match it with appropriate recipients, prioritize redistribution, and assist in coordinating pickup and delivery through a scalable SOA-based architecture.</a:t>
            </a:r>
          </a:p>
          <a:p>
            <a:endParaRPr lang="en-IN" dirty="0"/>
          </a:p>
          <a:p>
            <a:endParaRPr lang="en-IN" dirty="0"/>
          </a:p>
          <a:p>
            <a:r>
              <a:rPr lang="en-IN" b="1" dirty="0"/>
              <a:t>Problem in the Current Process</a:t>
            </a:r>
          </a:p>
          <a:p>
            <a:r>
              <a:rPr lang="en-IN" dirty="0"/>
              <a:t>• Manual surplus-food reporting</a:t>
            </a:r>
            <a:br>
              <a:rPr lang="en-IN" dirty="0"/>
            </a:br>
            <a:r>
              <a:rPr lang="en-IN" dirty="0"/>
              <a:t>• Time-consuming recipient identification</a:t>
            </a:r>
            <a:br>
              <a:rPr lang="en-IN" dirty="0"/>
            </a:br>
            <a:r>
              <a:rPr lang="en-IN" dirty="0"/>
              <a:t>• No intelligent redistribution prioritization</a:t>
            </a:r>
            <a:br>
              <a:rPr lang="en-IN" dirty="0"/>
            </a:br>
            <a:r>
              <a:rPr lang="en-IN" dirty="0"/>
              <a:t>• Manual pickup coordination</a:t>
            </a:r>
            <a:br>
              <a:rPr lang="en-IN" dirty="0"/>
            </a:br>
            <a:r>
              <a:rPr lang="en-IN" dirty="0"/>
              <a:t>• Risk of delays and food wastage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5B5F69C4-8BBF-D5AE-17E2-74DAD12D98A8}"/>
              </a:ext>
            </a:extLst>
          </p:cNvPr>
          <p:cNvSpPr txBox="1"/>
          <p:nvPr/>
        </p:nvSpPr>
        <p:spPr>
          <a:xfrm>
            <a:off x="309282" y="1115499"/>
            <a:ext cx="11658600" cy="3170099"/>
          </a:xfrm>
          <a:prstGeom prst="rect">
            <a:avLst/>
          </a:prstGeom>
          <a:noFill/>
        </p:spPr>
        <p:txBody>
          <a:bodyPr wrap="square">
            <a:spAutoFit/>
          </a:bodyPr>
          <a:lstStyle/>
          <a:p>
            <a:pPr marL="342900" indent="-342900">
              <a:buFont typeface="Wingdings" panose="05000000000000000000" pitchFamily="2" charset="2"/>
              <a:buChar char="Ø"/>
            </a:pPr>
            <a:r>
              <a:rPr lang="en-IN" sz="2000" dirty="0"/>
              <a:t> Develop an AI-based autonomous system for managing surplus-food redistribution.</a:t>
            </a:r>
          </a:p>
          <a:p>
            <a:pPr marL="342900" indent="-342900">
              <a:buFont typeface="Wingdings" panose="05000000000000000000" pitchFamily="2" charset="2"/>
              <a:buChar char="Ø"/>
            </a:pPr>
            <a:r>
              <a:rPr lang="en-IN" sz="2000" dirty="0"/>
              <a:t> </a:t>
            </a:r>
            <a:r>
              <a:rPr lang="en-IN" sz="2000" dirty="0" err="1"/>
              <a:t>Analyze</a:t>
            </a:r>
            <a:r>
              <a:rPr lang="en-IN" sz="2000" dirty="0"/>
              <a:t> surplus-food information such as food category, quantity, urgency, and suitability.</a:t>
            </a:r>
          </a:p>
          <a:p>
            <a:pPr marL="342900" indent="-342900">
              <a:buFont typeface="Wingdings" panose="05000000000000000000" pitchFamily="2" charset="2"/>
              <a:buChar char="Ø"/>
            </a:pPr>
            <a:r>
              <a:rPr lang="en-IN" sz="2000" dirty="0"/>
              <a:t> Intelligently match available surplus food with suitable nearby recipients based on their requirements.</a:t>
            </a:r>
          </a:p>
          <a:p>
            <a:pPr marL="342900" indent="-342900">
              <a:buFont typeface="Wingdings" panose="05000000000000000000" pitchFamily="2" charset="2"/>
              <a:buChar char="Ø"/>
            </a:pPr>
            <a:r>
              <a:rPr lang="en-IN" sz="2000" dirty="0"/>
              <a:t> Prioritize redistribution requests based on factors such as urgency, quantity, suitability, and location.</a:t>
            </a:r>
          </a:p>
          <a:p>
            <a:pPr marL="342900" indent="-342900">
              <a:buFont typeface="Wingdings" panose="05000000000000000000" pitchFamily="2" charset="2"/>
              <a:buChar char="Ø"/>
            </a:pPr>
            <a:r>
              <a:rPr lang="en-IN" sz="2000" dirty="0"/>
              <a:t> Automate notifications and assist in coordinating food pickup and redistribution.</a:t>
            </a:r>
          </a:p>
          <a:p>
            <a:pPr marL="342900" indent="-342900">
              <a:buFont typeface="Wingdings" panose="05000000000000000000" pitchFamily="2" charset="2"/>
              <a:buChar char="Ø"/>
            </a:pPr>
            <a:r>
              <a:rPr lang="en-IN" sz="2000" dirty="0"/>
              <a:t> Track the status of the redistribution process from food submission to successful recovery.</a:t>
            </a:r>
          </a:p>
          <a:p>
            <a:pPr marL="342900" indent="-342900">
              <a:buFont typeface="Wingdings" panose="05000000000000000000" pitchFamily="2" charset="2"/>
              <a:buChar char="Ø"/>
            </a:pPr>
            <a:r>
              <a:rPr lang="en-IN" sz="2000" dirty="0"/>
              <a:t> Implement the system using a scalable SOA-based microservices architecture.</a:t>
            </a:r>
          </a:p>
          <a:p>
            <a:pPr marL="342900" indent="-342900">
              <a:buFont typeface="Wingdings" panose="05000000000000000000" pitchFamily="2" charset="2"/>
              <a:buChar char="Ø"/>
            </a:pPr>
            <a:r>
              <a:rPr lang="en-IN" sz="2000" dirty="0"/>
              <a:t> Evaluate the system based on redistribution efficiency, response time, matching accuracy, and successful food recovery.</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graphicFrame>
        <p:nvGraphicFramePr>
          <p:cNvPr id="3" name="Table 2">
            <a:extLst>
              <a:ext uri="{FF2B5EF4-FFF2-40B4-BE49-F238E27FC236}">
                <a16:creationId xmlns:a16="http://schemas.microsoft.com/office/drawing/2014/main" id="{197FBF3F-8703-FFCE-1B56-72AF11CB5731}"/>
              </a:ext>
            </a:extLst>
          </p:cNvPr>
          <p:cNvGraphicFramePr>
            <a:graphicFrameLocks noGrp="1"/>
          </p:cNvGraphicFramePr>
          <p:nvPr>
            <p:extLst>
              <p:ext uri="{D42A27DB-BD31-4B8C-83A1-F6EECF244321}">
                <p14:modId xmlns:p14="http://schemas.microsoft.com/office/powerpoint/2010/main" val="3451055519"/>
              </p:ext>
            </p:extLst>
          </p:nvPr>
        </p:nvGraphicFramePr>
        <p:xfrm>
          <a:off x="336175" y="659745"/>
          <a:ext cx="11017625" cy="5329797"/>
        </p:xfrm>
        <a:graphic>
          <a:graphicData uri="http://schemas.openxmlformats.org/drawingml/2006/table">
            <a:tbl>
              <a:tblPr/>
              <a:tblGrid>
                <a:gridCol w="2203525">
                  <a:extLst>
                    <a:ext uri="{9D8B030D-6E8A-4147-A177-3AD203B41FA5}">
                      <a16:colId xmlns:a16="http://schemas.microsoft.com/office/drawing/2014/main" val="1944135436"/>
                    </a:ext>
                  </a:extLst>
                </a:gridCol>
                <a:gridCol w="2203525">
                  <a:extLst>
                    <a:ext uri="{9D8B030D-6E8A-4147-A177-3AD203B41FA5}">
                      <a16:colId xmlns:a16="http://schemas.microsoft.com/office/drawing/2014/main" val="1439005518"/>
                    </a:ext>
                  </a:extLst>
                </a:gridCol>
                <a:gridCol w="2203525">
                  <a:extLst>
                    <a:ext uri="{9D8B030D-6E8A-4147-A177-3AD203B41FA5}">
                      <a16:colId xmlns:a16="http://schemas.microsoft.com/office/drawing/2014/main" val="2037448610"/>
                    </a:ext>
                  </a:extLst>
                </a:gridCol>
                <a:gridCol w="2203525">
                  <a:extLst>
                    <a:ext uri="{9D8B030D-6E8A-4147-A177-3AD203B41FA5}">
                      <a16:colId xmlns:a16="http://schemas.microsoft.com/office/drawing/2014/main" val="1130002094"/>
                    </a:ext>
                  </a:extLst>
                </a:gridCol>
                <a:gridCol w="2203525">
                  <a:extLst>
                    <a:ext uri="{9D8B030D-6E8A-4147-A177-3AD203B41FA5}">
                      <a16:colId xmlns:a16="http://schemas.microsoft.com/office/drawing/2014/main" val="4096013131"/>
                    </a:ext>
                  </a:extLst>
                </a:gridCol>
              </a:tblGrid>
              <a:tr h="335508">
                <a:tc>
                  <a:txBody>
                    <a:bodyPr/>
                    <a:lstStyle/>
                    <a:p>
                      <a:pPr>
                        <a:buNone/>
                      </a:pPr>
                      <a:r>
                        <a:rPr lang="en-IN" sz="1400" b="1" dirty="0"/>
                        <a:t>Authors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dirty="0"/>
                        <a:t>Title of the Paper</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dirty="0"/>
                        <a:t>Methodology</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dirty="0"/>
                        <a:t>Inferences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dirty="0"/>
                        <a:t>Limitation/Future work</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24486292"/>
                  </a:ext>
                </a:extLst>
              </a:tr>
              <a:tr h="1486395">
                <a:tc>
                  <a:txBody>
                    <a:bodyPr/>
                    <a:lstStyle/>
                    <a:p>
                      <a:pPr>
                        <a:buNone/>
                      </a:pPr>
                      <a:r>
                        <a:rPr lang="en-IN" sz="1400" dirty="0"/>
                        <a:t>Caleb Phillips et al.</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IN" sz="1400" dirty="0"/>
                        <a:t>Food Redistribution as Optimization, PLOS ONE, 2013</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IN" sz="1400" dirty="0"/>
                        <a:t>Empirical </a:t>
                      </a:r>
                      <a:r>
                        <a:rPr lang="en-IN" sz="1400" dirty="0" err="1"/>
                        <a:t>modeling</a:t>
                      </a:r>
                      <a:r>
                        <a:rPr lang="en-IN" sz="1400" dirty="0"/>
                        <a:t> and Monte Carlo simulation for food rescue and redistribution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IN" sz="1400" dirty="0"/>
                        <a:t>Shows that food rescue and redistribution can be feasible at small and large scales.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IN" sz="1400" dirty="0"/>
                        <a:t>Depends on fast transportation and redistribution before food expires; does not provide an autonomous AI system.</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5040952"/>
                  </a:ext>
                </a:extLst>
              </a:tr>
              <a:tr h="1843131">
                <a:tc>
                  <a:txBody>
                    <a:bodyPr/>
                    <a:lstStyle/>
                    <a:p>
                      <a:pPr>
                        <a:buNone/>
                      </a:pPr>
                      <a:r>
                        <a:rPr lang="en-IN" sz="1400" dirty="0"/>
                        <a:t>Miguel Rodrigues et al. </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Machine Learning Models for Short-Term Demand Forecasting in Food Catering Services: A Solution to Reduce Food Waste, Journal of Cleaner Production, 2024</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Random Forest, LSTM and other machine-learning models for demand forecasting</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ML-based forecasting can help reduce food waste by improving food-demand prediction.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Focuses on preventing overproduction through forecasting rather than redistributing existing surplus food.</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8389133"/>
                  </a:ext>
                </a:extLst>
              </a:tr>
              <a:tr h="1664763">
                <a:tc>
                  <a:txBody>
                    <a:bodyPr/>
                    <a:lstStyle/>
                    <a:p>
                      <a:pPr>
                        <a:buNone/>
                      </a:pPr>
                      <a:r>
                        <a:rPr lang="en-IN" sz="1400" dirty="0"/>
                        <a:t>T. Sunil Kumar et al. </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buNone/>
                      </a:pPr>
                      <a:r>
                        <a:rPr lang="en-IN" sz="1400" dirty="0"/>
                        <a:t>An Intelligent Platform for Surplus Food Management Using Machine Learning, 2026</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buNone/>
                      </a:pPr>
                      <a:r>
                        <a:rPr lang="en-IN" sz="1400" dirty="0"/>
                        <a:t>Machine learning combined with rule-based decision systems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buNone/>
                      </a:pPr>
                      <a:r>
                        <a:rPr lang="en-IN" sz="1400" dirty="0"/>
                        <a:t>Uses ML for food sharing, expiry prediction and priority classification.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buNone/>
                      </a:pPr>
                      <a:r>
                        <a:rPr lang="en-IN" sz="1400" dirty="0"/>
                        <a:t>Does not provide the complete autonomous agent workflow and SOA-based microservice coordination proposed in </a:t>
                      </a:r>
                      <a:r>
                        <a:rPr lang="en-IN" sz="1400" dirty="0" err="1"/>
                        <a:t>FoodRescue</a:t>
                      </a:r>
                      <a:r>
                        <a:rPr lang="en-IN" sz="1400" dirty="0"/>
                        <a:t> AI.</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782483960"/>
                  </a:ext>
                </a:extLst>
              </a:tr>
            </a:tbl>
          </a:graphicData>
        </a:graphic>
      </p:graphicFrame>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996453" y="299384"/>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98F59761-C07D-68BB-0263-22A3EFAD1210}"/>
              </a:ext>
            </a:extLst>
          </p:cNvPr>
          <p:cNvSpPr txBox="1"/>
          <p:nvPr/>
        </p:nvSpPr>
        <p:spPr>
          <a:xfrm>
            <a:off x="161364" y="1075765"/>
            <a:ext cx="12030635" cy="5078313"/>
          </a:xfrm>
          <a:prstGeom prst="rect">
            <a:avLst/>
          </a:prstGeom>
          <a:noFill/>
        </p:spPr>
        <p:txBody>
          <a:bodyPr wrap="square">
            <a:spAutoFit/>
          </a:bodyPr>
          <a:lstStyle/>
          <a:p>
            <a:pPr marL="285750" indent="-285750" algn="just">
              <a:buFont typeface="Wingdings" panose="05000000000000000000" pitchFamily="2" charset="2"/>
              <a:buChar char="v"/>
            </a:pPr>
            <a:r>
              <a:rPr lang="en-IN" b="1" dirty="0"/>
              <a:t>Problem Gap Identification</a:t>
            </a:r>
          </a:p>
          <a:p>
            <a:pPr algn="just">
              <a:buNone/>
            </a:pPr>
            <a:r>
              <a:rPr lang="en-IN" dirty="0"/>
              <a:t>• Existing food redistribution approaches mainly focus on donation management, optimization, or basic coordination rather than autonomous decision-making.</a:t>
            </a:r>
          </a:p>
          <a:p>
            <a:pPr algn="just">
              <a:buNone/>
            </a:pPr>
            <a:r>
              <a:rPr lang="en-IN" dirty="0"/>
              <a:t>• Existing machine learning approaches mainly focus on food-waste prediction or demand forecasting, but do not fully address real-time surplus-food redistribution.</a:t>
            </a:r>
          </a:p>
          <a:p>
            <a:pPr algn="just">
              <a:buNone/>
            </a:pPr>
            <a:r>
              <a:rPr lang="en-IN" dirty="0"/>
              <a:t>• Current digital platforms provide features such as food listing, recipient requests, pickup scheduling, and tracking, but intelligent recipient matching and redistribution prioritization are limited.</a:t>
            </a:r>
          </a:p>
          <a:p>
            <a:pPr algn="just">
              <a:buNone/>
            </a:pPr>
            <a:r>
              <a:rPr lang="en-IN" dirty="0"/>
              <a:t>• There is a lack of an integrated AI Agent that can </a:t>
            </a:r>
            <a:r>
              <a:rPr lang="en-IN" dirty="0" err="1"/>
              <a:t>analyze</a:t>
            </a:r>
            <a:r>
              <a:rPr lang="en-IN" dirty="0"/>
              <a:t> surplus food, assess urgency and suitability, select suitable recipients, prioritize requests, and assist in pickup coordination.</a:t>
            </a:r>
          </a:p>
          <a:p>
            <a:pPr algn="just">
              <a:buNone/>
            </a:pPr>
            <a:r>
              <a:rPr lang="en-IN" dirty="0"/>
              <a:t>• Existing solutions do not provide a complete combination of autonomous AI decision-making with a scalable SOA-based microservices architecture.</a:t>
            </a:r>
          </a:p>
          <a:p>
            <a:pPr algn="just">
              <a:buNone/>
            </a:pPr>
            <a:endParaRPr lang="en-IN" dirty="0"/>
          </a:p>
          <a:p>
            <a:pPr marL="285750" indent="-285750" algn="just">
              <a:buFont typeface="Wingdings" panose="05000000000000000000" pitchFamily="2" charset="2"/>
              <a:buChar char="v"/>
            </a:pPr>
            <a:r>
              <a:rPr lang="en-IN" b="1" dirty="0"/>
              <a:t>Identified Gap</a:t>
            </a:r>
          </a:p>
          <a:p>
            <a:pPr algn="just">
              <a:buNone/>
            </a:pPr>
            <a:r>
              <a:rPr lang="en-IN" dirty="0" err="1"/>
              <a:t>FoodRescue</a:t>
            </a:r>
            <a:r>
              <a:rPr lang="en-IN" dirty="0"/>
              <a:t> AI aims to bridge this gap by integrating AI-based analysis, intelligent recipient matching, redistribution prioritization, autonomous coordination, and SOA-based microservices into a single system.</a:t>
            </a:r>
          </a:p>
          <a:p>
            <a:pPr algn="just">
              <a:buNone/>
            </a:pPr>
            <a:r>
              <a:rPr lang="en-IN" dirty="0"/>
              <a:t>This gap is consistent with the literature: food-rescue research highlights the importance of quick redistribution, while newer platforms still identify automated matching, notifications, safety controls, and real-time tracking as areas for further development.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99922465-A327-1C15-BC6D-FADADB875EB1}"/>
              </a:ext>
            </a:extLst>
          </p:cNvPr>
          <p:cNvSpPr txBox="1"/>
          <p:nvPr/>
        </p:nvSpPr>
        <p:spPr>
          <a:xfrm>
            <a:off x="158002" y="1213682"/>
            <a:ext cx="12033997" cy="4524315"/>
          </a:xfrm>
          <a:prstGeom prst="rect">
            <a:avLst/>
          </a:prstGeom>
          <a:noFill/>
        </p:spPr>
        <p:txBody>
          <a:bodyPr wrap="square">
            <a:spAutoFit/>
          </a:bodyPr>
          <a:lstStyle/>
          <a:p>
            <a:pPr marL="285750" indent="-285750">
              <a:buFont typeface="Wingdings" panose="05000000000000000000" pitchFamily="2" charset="2"/>
              <a:buChar char="Ø"/>
            </a:pPr>
            <a:r>
              <a:rPr lang="en-IN" b="1" dirty="0"/>
              <a:t>Innovation, Creativity, and Novelty</a:t>
            </a:r>
          </a:p>
          <a:p>
            <a:pPr marL="342900" lvl="0" indent="-342900">
              <a:buFont typeface="+mj-lt"/>
              <a:buAutoNum type="arabicPeriod"/>
            </a:pPr>
            <a:r>
              <a:rPr lang="en-IN" dirty="0"/>
              <a:t>Agentic Surplus-Food Intelligence</a:t>
            </a:r>
            <a:br>
              <a:rPr lang="en-IN" dirty="0"/>
            </a:br>
            <a:r>
              <a:rPr lang="en-IN" dirty="0"/>
              <a:t>The AI Agent </a:t>
            </a:r>
            <a:r>
              <a:rPr lang="en-IN" dirty="0" err="1"/>
              <a:t>analyzes</a:t>
            </a:r>
            <a:r>
              <a:rPr lang="en-IN" dirty="0"/>
              <a:t> submitted surplus-food information including food category, quantity, urgency, and suitability, and autonomously determines the next action. </a:t>
            </a:r>
          </a:p>
          <a:p>
            <a:pPr marL="342900" lvl="0" indent="-342900">
              <a:buFont typeface="+mj-lt"/>
              <a:buAutoNum type="arabicPeriod"/>
            </a:pPr>
            <a:r>
              <a:rPr lang="en-IN" dirty="0"/>
              <a:t>Context-Aware Recipient Matching and Priority</a:t>
            </a:r>
            <a:br>
              <a:rPr lang="en-IN" dirty="0"/>
            </a:br>
            <a:r>
              <a:rPr lang="en-IN" dirty="0"/>
              <a:t>The system combines food type, quantity, urgency, recipient requirements, location, and availability to recommend suitable recipients and prioritize redistribution requests. </a:t>
            </a:r>
          </a:p>
          <a:p>
            <a:pPr marL="342900" lvl="0" indent="-342900">
              <a:buFont typeface="+mj-lt"/>
              <a:buAutoNum type="arabicPeriod"/>
            </a:pPr>
            <a:r>
              <a:rPr lang="en-IN" dirty="0"/>
              <a:t>Autonomous SOA-Based Redistribution Orchestration</a:t>
            </a:r>
            <a:br>
              <a:rPr lang="en-IN" dirty="0"/>
            </a:br>
            <a:r>
              <a:rPr lang="en-IN" dirty="0"/>
              <a:t>The AI Agent coordinates multiple microservices such as Food, Matching, Redistribution, and Notification Services to manage the workflow from surplus submission to successful food recovery. </a:t>
            </a:r>
          </a:p>
          <a:p>
            <a:pPr marL="342900" lvl="0" indent="-342900">
              <a:buFont typeface="+mj-lt"/>
              <a:buAutoNum type="arabicPeriod"/>
            </a:pPr>
            <a:endParaRPr lang="en-IN" dirty="0"/>
          </a:p>
          <a:p>
            <a:pPr marL="285750" indent="-285750">
              <a:buFont typeface="Wingdings" panose="05000000000000000000" pitchFamily="2" charset="2"/>
              <a:buChar char="Ø"/>
            </a:pPr>
            <a:r>
              <a:rPr lang="en-IN" b="1" dirty="0"/>
              <a:t>Key Innovation</a:t>
            </a:r>
          </a:p>
          <a:p>
            <a:pPr>
              <a:buNone/>
            </a:pPr>
            <a:r>
              <a:rPr lang="en-IN" dirty="0" err="1"/>
              <a:t>FoodRescue</a:t>
            </a:r>
            <a:r>
              <a:rPr lang="en-IN" dirty="0"/>
              <a:t> AI combines AI-based decision-making, autonomous workflow orchestration, intelligent matching, and SOA-based microservices into one end-to-end surplus-food redistribution system.</a:t>
            </a:r>
          </a:p>
          <a:p>
            <a:pPr>
              <a:buNone/>
            </a:pPr>
            <a:r>
              <a:rPr lang="en-IN" dirty="0"/>
              <a:t>This is stronger than simply saying “AI matching is our novelty,” because existing food-rescue systems already use AI matching</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01933" y="8466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E4E24EA1-F316-32BC-DFFC-62D7112948C1}"/>
              </a:ext>
            </a:extLst>
          </p:cNvPr>
          <p:cNvSpPr txBox="1"/>
          <p:nvPr/>
        </p:nvSpPr>
        <p:spPr>
          <a:xfrm>
            <a:off x="94129" y="864022"/>
            <a:ext cx="11806518" cy="5632311"/>
          </a:xfrm>
          <a:prstGeom prst="rect">
            <a:avLst/>
          </a:prstGeom>
          <a:noFill/>
        </p:spPr>
        <p:txBody>
          <a:bodyPr wrap="square">
            <a:spAutoFit/>
          </a:bodyPr>
          <a:lstStyle/>
          <a:p>
            <a:pPr marL="285750" indent="-285750">
              <a:buFont typeface="Wingdings" panose="05000000000000000000" pitchFamily="2" charset="2"/>
              <a:buChar char="Ø"/>
            </a:pPr>
            <a:r>
              <a:rPr lang="en-IN" b="1" dirty="0"/>
              <a:t>Technical Feasibility</a:t>
            </a:r>
          </a:p>
          <a:p>
            <a:pPr>
              <a:buNone/>
            </a:pPr>
            <a:r>
              <a:rPr lang="en-IN" dirty="0"/>
              <a:t>• Uses Python, </a:t>
            </a:r>
            <a:r>
              <a:rPr lang="en-IN" dirty="0" err="1"/>
              <a:t>FastAPI</a:t>
            </a:r>
            <a:r>
              <a:rPr lang="en-IN" dirty="0"/>
              <a:t>, AI/ML services, databases, APIs, and microservices.</a:t>
            </a:r>
          </a:p>
          <a:p>
            <a:pPr>
              <a:buNone/>
            </a:pPr>
            <a:r>
              <a:rPr lang="en-IN" dirty="0"/>
              <a:t>• SOA-based architecture allows independent development and integration of services.</a:t>
            </a:r>
          </a:p>
          <a:p>
            <a:pPr>
              <a:buNone/>
            </a:pPr>
            <a:r>
              <a:rPr lang="en-IN" dirty="0"/>
              <a:t>• AI Agent Service can be integrated with an AI model for intelligent analysis and decision-making.</a:t>
            </a:r>
          </a:p>
          <a:p>
            <a:pPr>
              <a:buNone/>
            </a:pPr>
            <a:r>
              <a:rPr lang="en-IN" dirty="0"/>
              <a:t>Operational Feasibility</a:t>
            </a:r>
          </a:p>
          <a:p>
            <a:pPr>
              <a:buNone/>
            </a:pPr>
            <a:r>
              <a:rPr lang="en-IN" dirty="0"/>
              <a:t>• Food providers can submit surplus-food details through the application.</a:t>
            </a:r>
          </a:p>
          <a:p>
            <a:pPr>
              <a:buNone/>
            </a:pPr>
            <a:r>
              <a:rPr lang="en-IN" dirty="0"/>
              <a:t>• Recipient organizations can receive suitable food requests and coordinate pickup.</a:t>
            </a:r>
          </a:p>
          <a:p>
            <a:pPr>
              <a:buNone/>
            </a:pPr>
            <a:r>
              <a:rPr lang="en-IN" dirty="0"/>
              <a:t>• The system supports automated matching, prioritization, notifications, and status tracking.</a:t>
            </a:r>
          </a:p>
          <a:p>
            <a:pPr>
              <a:buNone/>
            </a:pPr>
            <a:r>
              <a:rPr lang="en-IN" dirty="0"/>
              <a:t>Economic Feasibility</a:t>
            </a:r>
          </a:p>
          <a:p>
            <a:pPr>
              <a:buNone/>
            </a:pPr>
            <a:r>
              <a:rPr lang="en-IN" dirty="0"/>
              <a:t>• Uses open-source technologies and available cloud services.</a:t>
            </a:r>
          </a:p>
          <a:p>
            <a:pPr>
              <a:buNone/>
            </a:pPr>
            <a:r>
              <a:rPr lang="en-IN" dirty="0"/>
              <a:t>• The modular architecture supports future expansion with minimal changes.</a:t>
            </a:r>
          </a:p>
          <a:p>
            <a:pPr marL="285750" indent="-285750">
              <a:buFont typeface="Wingdings" panose="05000000000000000000" pitchFamily="2" charset="2"/>
              <a:buChar char="Ø"/>
            </a:pPr>
            <a:r>
              <a:rPr lang="en-IN" b="1" dirty="0"/>
              <a:t>Project Plan</a:t>
            </a:r>
          </a:p>
          <a:p>
            <a:pPr>
              <a:buNone/>
            </a:pPr>
            <a:r>
              <a:rPr lang="en-IN" dirty="0"/>
              <a:t>• Phase 1: Requirements &amp; Literature Survey</a:t>
            </a:r>
            <a:br>
              <a:rPr lang="en-IN" dirty="0"/>
            </a:br>
            <a:r>
              <a:rPr lang="en-IN" dirty="0"/>
              <a:t>• Phase 2: SOA Architecture &amp; System Design</a:t>
            </a:r>
            <a:br>
              <a:rPr lang="en-IN" dirty="0"/>
            </a:br>
            <a:r>
              <a:rPr lang="en-IN" dirty="0"/>
              <a:t>• Phase 3: Microservices Development</a:t>
            </a:r>
            <a:br>
              <a:rPr lang="en-IN" dirty="0"/>
            </a:br>
            <a:r>
              <a:rPr lang="en-IN" dirty="0"/>
              <a:t>• Phase 4: AI Agent Development &amp; Integration</a:t>
            </a:r>
            <a:br>
              <a:rPr lang="en-IN" dirty="0"/>
            </a:br>
            <a:r>
              <a:rPr lang="en-IN" dirty="0"/>
              <a:t>• Phase 5: Matching &amp; Notification</a:t>
            </a:r>
            <a:br>
              <a:rPr lang="en-IN" dirty="0"/>
            </a:br>
            <a:r>
              <a:rPr lang="en-IN" dirty="0"/>
              <a:t>• Phase 6: Integration &amp; Testing</a:t>
            </a:r>
            <a:br>
              <a:rPr lang="en-IN" dirty="0"/>
            </a:br>
            <a:r>
              <a:rPr lang="en-IN" dirty="0"/>
              <a:t>• Phase 7: Deployment &amp; Evaluation</a:t>
            </a:r>
            <a:br>
              <a:rPr lang="en-IN" dirty="0"/>
            </a:br>
            <a:r>
              <a:rPr lang="en-IN" dirty="0"/>
              <a:t>• Phase 8: Documentation &amp; Presentation</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98E848-8F80-3029-7DAD-D60CA2531AA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19552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3E746A-8424-288D-F351-975C6B39591B}"/>
              </a:ext>
            </a:extLst>
          </p:cNvPr>
          <p:cNvPicPr>
            <a:picLocks noChangeAspect="1"/>
          </p:cNvPicPr>
          <p:nvPr/>
        </p:nvPicPr>
        <p:blipFill>
          <a:blip r:embed="rId2"/>
          <a:stretch>
            <a:fillRect/>
          </a:stretch>
        </p:blipFill>
        <p:spPr>
          <a:xfrm>
            <a:off x="328460" y="0"/>
            <a:ext cx="11863540" cy="6858000"/>
          </a:xfrm>
          <a:prstGeom prst="rect">
            <a:avLst/>
          </a:prstGeom>
        </p:spPr>
      </p:pic>
    </p:spTree>
    <p:extLst>
      <p:ext uri="{BB962C8B-B14F-4D97-AF65-F5344CB8AC3E}">
        <p14:creationId xmlns:p14="http://schemas.microsoft.com/office/powerpoint/2010/main" val="1544647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8C748-A961-0B13-6D29-1C8F842BF52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9F4307-D36E-6178-137F-1A5B8B18AFD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1D4A5F1-7727-54BD-5153-F0DCC23246C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40108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D181-9DBA-E814-39E8-332B3E6F097F}"/>
              </a:ext>
            </a:extLst>
          </p:cNvPr>
          <p:cNvSpPr>
            <a:spLocks noGrp="1"/>
          </p:cNvSpPr>
          <p:nvPr>
            <p:ph type="title"/>
          </p:nvPr>
        </p:nvSpPr>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r>
              <a:rPr lang="en-US" dirty="0"/>
              <a:t>                                 THANK YOU</a:t>
            </a:r>
            <a:endParaRPr lang="en-IN" dirty="0"/>
          </a:p>
        </p:txBody>
      </p:sp>
    </p:spTree>
    <p:extLst>
      <p:ext uri="{BB962C8B-B14F-4D97-AF65-F5344CB8AC3E}">
        <p14:creationId xmlns:p14="http://schemas.microsoft.com/office/powerpoint/2010/main" val="3405594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TotalTime>
  <Words>1090</Words>
  <Application>Microsoft Office PowerPoint</Application>
  <PresentationFormat>Widescreen</PresentationFormat>
  <Paragraphs>107</Paragraphs>
  <Slides>12</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HC VARMA</cp:lastModifiedBy>
  <cp:revision>34</cp:revision>
  <dcterms:created xsi:type="dcterms:W3CDTF">2026-08-08T06:33:56Z</dcterms:created>
  <dcterms:modified xsi:type="dcterms:W3CDTF">2026-09-29T06:56:48Z</dcterms:modified>
</cp:coreProperties>
</file>